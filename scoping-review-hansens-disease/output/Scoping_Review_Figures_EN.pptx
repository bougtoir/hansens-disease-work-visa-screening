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237E"/>
                </a:solidFill>
              </a:rPr>
              <a:t>Hansen's Disease Screening in Work Visa Medical Examinations</a:t>
            </a:r>
          </a:p>
          <a:p>
            <a:pPr algn="ctr"/>
            <a:r>
              <a:rPr sz="1800">
                <a:solidFill>
                  <a:srgbClr val="444444"/>
                </a:solidFill>
              </a:rPr>
              <a:t>A Global Scoping Review of Administrative Requirements
That Diverge from Standard Medical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66666"/>
                </a:solidFill>
              </a:rPr>
              <a:t>Figures and Tables
PRISMA-ScR Scoping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999999"/>
                </a:solidFill>
              </a:rPr>
              <a:t>[Author Names]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Figure 1: Global Distribution of Hansen's Disease Screening</a:t>
            </a:r>
          </a:p>
        </p:txBody>
      </p:sp>
      <p:pic>
        <p:nvPicPr>
          <p:cNvPr id="3" name="Picture 2" descr="fig1_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6748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Schematic regional map showing countries that screen for Hansen's disease (red), disease-specific screening without Hansen's (blue), and no disease-specific requirements (green).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Figure 2: Diseases Named in Work Visa Medical Screening Requirements</a:t>
            </a:r>
          </a:p>
        </p:txBody>
      </p:sp>
      <p:pic>
        <p:nvPicPr>
          <p:cNvPr id="3" name="Picture 2" descr="fig2_diseas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8671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Horizontal bar chart across 58 countries. Hansen's disease (red) is the 5th most commonly screened (34.5%).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Figure 3: Regional Distribution and Legal Provisions</a:t>
            </a:r>
          </a:p>
        </p:txBody>
      </p:sp>
      <p:pic>
        <p:nvPicPr>
          <p:cNvPr id="3" name="Picture 2" descr="fig3_regional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619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(A) Regional distribution of 20 countries screening for Hansen's disease. (B) Nature of Hansen's disease provisions in immigration law.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Figure 4: PRISMA-ScR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" y="548640"/>
            <a:ext cx="77724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65C0"/>
                </a:solidFill>
              </a:rPr>
              <a:t>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" y="1417320"/>
            <a:ext cx="77724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65C0"/>
                </a:solidFill>
              </a:rPr>
              <a:t>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" y="2468880"/>
            <a:ext cx="77724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65C0"/>
                </a:solidFill>
              </a:rPr>
              <a:t>ELIGIBILITY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" y="3840480"/>
            <a:ext cx="777240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565C0"/>
                </a:solidFill>
              </a:rPr>
              <a:t>INCLUDED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502920"/>
            <a:ext cx="5943600" cy="54864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/>
              <a:t>Countries/territories identified for 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/>
              <a:t>(n = 197: 193 UN member states + 4 observer entities)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371600"/>
            <a:ext cx="5943600" cy="59436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Sources screened per country: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Government websites, legislation, official forms,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ILEP database, IOM reports, academic literature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331720"/>
            <a:ext cx="4754880" cy="54864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English-language sources: characterized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(n = 110: 58 disease-specific + 52 no requirement)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2286000" cy="54864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English insufficient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(n = 87)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246120"/>
            <a:ext cx="4754880" cy="54864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Supplementary multilingual research: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5 countries confirmed + 82 unresolved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246120"/>
            <a:ext cx="2286000" cy="54864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Ultimately unresolved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despite multilingual search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(n = 82)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251960"/>
            <a:ext cx="3291840" cy="6858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Countries with Hansen's disease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explicitly named in work visa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medical requirements (n = 20)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4251960"/>
            <a:ext cx="3291840" cy="685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Countries with disease-specific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screening but NO Hansen's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/>
              <a:t>disease (n = 38)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303520"/>
            <a:ext cx="3291840" cy="118872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By region: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GCC/Middle East: 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SE/East Asia: 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Americas: 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Africa: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Europe: 2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South Asia: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5303520"/>
            <a:ext cx="3291840" cy="11887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Top screened diseases (excl. Hansen's):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TB: 38 countries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HIV: 35 countries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Syphilis: 28 countries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/>
              <a:t>Hepatitis B: 22 countries</a:t>
            </a:r>
          </a:p>
        </p:txBody>
      </p:sp>
      <p:cxnSp>
        <p:nvCxnSpPr>
          <p:cNvPr id="117" name="Arrow 117"/>
          <p:cNvCxnSpPr/>
          <p:nvPr/>
        </p:nvCxnSpPr>
        <p:spPr>
          <a:xfrm>
            <a:off x="4160520" y="1051560"/>
            <a:ext cx="0" cy="32004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18" name="Arrow 118"/>
          <p:cNvCxnSpPr/>
          <p:nvPr/>
        </p:nvCxnSpPr>
        <p:spPr>
          <a:xfrm flipH="1">
            <a:off x="3566160" y="1965960"/>
            <a:ext cx="594360" cy="36576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19" name="Arrow 119"/>
          <p:cNvCxnSpPr/>
          <p:nvPr/>
        </p:nvCxnSpPr>
        <p:spPr>
          <a:xfrm>
            <a:off x="5943600" y="2606040"/>
            <a:ext cx="548640" cy="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0" name="Arrow 120"/>
          <p:cNvCxnSpPr/>
          <p:nvPr/>
        </p:nvCxnSpPr>
        <p:spPr>
          <a:xfrm>
            <a:off x="3566160" y="2880360"/>
            <a:ext cx="0" cy="36576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1" name="Arrow 121"/>
          <p:cNvCxnSpPr/>
          <p:nvPr/>
        </p:nvCxnSpPr>
        <p:spPr>
          <a:xfrm>
            <a:off x="5943600" y="3520440"/>
            <a:ext cx="548640" cy="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2" name="Arrow 122"/>
          <p:cNvCxnSpPr/>
          <p:nvPr/>
        </p:nvCxnSpPr>
        <p:spPr>
          <a:xfrm flipH="1">
            <a:off x="2651760" y="3794760"/>
            <a:ext cx="914400" cy="45720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3" name="Arrow 123"/>
          <p:cNvCxnSpPr/>
          <p:nvPr/>
        </p:nvCxnSpPr>
        <p:spPr>
          <a:xfrm>
            <a:off x="3566160" y="3794760"/>
            <a:ext cx="2926080" cy="45720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4" name="Arrow 124"/>
          <p:cNvCxnSpPr/>
          <p:nvPr/>
        </p:nvCxnSpPr>
        <p:spPr>
          <a:xfrm>
            <a:off x="2651760" y="4937760"/>
            <a:ext cx="0" cy="36576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  <p:cxnSp>
        <p:nvCxnSpPr>
          <p:cNvPr id="125" name="Arrow 125"/>
          <p:cNvCxnSpPr/>
          <p:nvPr/>
        </p:nvCxnSpPr>
        <p:spPr>
          <a:xfrm>
            <a:off x="6492240" y="4937760"/>
            <a:ext cx="0" cy="365760"/>
          </a:xfrm>
          <a:prstGeom prst="straightConnector1">
            <a:avLst/>
          </a:prstGeom>
          <a:ln w="19050">
            <a:solidFill>
              <a:srgbClr val="1565C0"/>
            </a:solidFill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Figure 5: Disease Transmissibility vs. Screening Frequency</a:t>
            </a:r>
          </a:p>
        </p:txBody>
      </p:sp>
      <p:pic>
        <p:nvPicPr>
          <p:cNvPr id="3" name="Picture 2" descr="fig5_transmis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36" y="914400"/>
            <a:ext cx="7264127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Hansen's disease (red) shows disproportionately high screening despite very low transmissibility. Bubble size proportional to number of countries screening for each disease.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Figure 6: Data Accessibility Flow Diagram</a:t>
            </a:r>
          </a:p>
        </p:txBody>
      </p:sp>
      <p:pic>
        <p:nvPicPr>
          <p:cNvPr id="3" name="Picture 2" descr="fig6_sankey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7043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Two-stage search strategy: 197 countries → 110 via English sources (58 disease-specific + 52 no requirement), 5 via multilingual research, 82 unreachable. Among 63 with confirmed screening, 20 named Hansen's disease.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37E"/>
                </a:solidFill>
              </a:rPr>
              <a:t>Figure 7: Geographic Distribution of Data Accessibility</a:t>
            </a:r>
          </a:p>
        </p:txBody>
      </p:sp>
      <p:pic>
        <p:nvPicPr>
          <p:cNvPr id="3" name="Picture 2" descr="fig7_accessibility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674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</a:rPr>
              <a:t>Green: reached via English sources (110, 55.8%); Orange: reached via multilingual research (5, 2.5%); Red: unreachable (82, 41.6%). Gray: not in study scope.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Table 1: Countries with Hansen's Disease in Work Visa Medical Requirements (n=20)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640080"/>
          <a:ext cx="768096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2560320"/>
                <a:gridCol w="1828800"/>
                <a:gridCol w="731520"/>
              </a:tblGrid>
              <a:tr h="28302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Legal Instrument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Provision Type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GCC/Middle East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Saudi Arabia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 Regulations 6th Ed.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Automatic exclusion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UAE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 Regulations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Automatic exclusion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Qatar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 Regulations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Automatic exclusion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Kuwait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 Regulations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Automatic exclusion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Oman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 Regulations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Automatic exclusion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Bahrain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GAMCA/WAFID Regulations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Automatic exclusion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2021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East/SE Asia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China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Foreigner Physical Exam. Form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Certification of absence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Thailand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Emergency Decree B.E.2560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Prohibited disease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2017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Taiwan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Work Permit Regulations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Certification of absence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Malaysia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FOMEMA Requirements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Medical unfitness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Philippines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OWWA Requirements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Certification of absence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Africa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South Africa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Immigration Act 2002; BI-811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Certification of absence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Namibia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Immigration Control Act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Medical prohibition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1993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Europe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Russia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Federal Law No.115-FZ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Deportation ground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2002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Malta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Immigration Act Cap.217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Medical inadmissibility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Americas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United States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INA §212(a)(1)(A)(i)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Class A condition*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1952†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Barbados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Immigration Act Cap.190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Medical prohibition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/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US Virgin Islands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US Federal Law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Class A condition*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83028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South Asia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India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State-level Employment Acts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Employment restriction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Various</a:t>
                      </a:r>
                    </a:p>
                  </a:txBody>
                  <a:tcPr/>
                </a:tc>
              </a:tr>
              <a:tr h="283040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/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Hong Kong SAR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Immigration Ordinance Cap.115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Medical inadmissibility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Table 2: Countries with Disease-Specific Screening but NOT Including Hansen's Disease (n=15)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640080"/>
          <a:ext cx="768096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743200"/>
                <a:gridCol w="1280160"/>
              </a:tblGrid>
              <a:tr h="371475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Diseases Screened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Notable Features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Hansen's Disease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Canada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TB, syphilis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Immigration Medical Exam (IME)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Australia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TB, HIV, Hep B/C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Panel physician system (Bupa)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United Kingdom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 (visas &gt;6 months)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IOM panel physician screening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New Zealand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TB, HIV, Hep 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Immigration NZ panel physicians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Japan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 only (select nationalities)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JPETS pre-entry TB screening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South Korea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TB, HIV, drugs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E-9 visa medical examination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Singapore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TB, HIV, syphilis, Hep B, malaria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Foreign Worker Medical Exam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Israel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TB, HIV, Hep B/C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Entry medical requirements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Kenya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TB, HIV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Work permit medical certificate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Nigeria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TB, HIV, Hep 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Expatriate quota medical exam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Ghana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TB, HIV, yellow fever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Immigration medical certificate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Brazil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Yellow fever (vaccination)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 work visa medical exam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Mexico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None specified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 standard medical exam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/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Argentina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None specified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 disease-specific exam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1475"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Chile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TB, HIV (select visas)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Temporary resident visa medical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/>
                        <a:t>Not included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