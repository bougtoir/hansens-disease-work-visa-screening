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7680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237E"/>
                </a:solidFill>
              </a:rPr>
              <a:t>労働ビザ医療検査における
ハンセン病スクリーニング</a:t>
            </a:r>
          </a:p>
          <a:p>
            <a:pPr algn="ctr"/>
            <a:r>
              <a:rPr sz="1800">
                <a:solidFill>
                  <a:srgbClr val="444444"/>
                </a:solidFill>
              </a:rPr>
              <a:t>標準医療と乖離した行政要求に関する
グローバルスコーピングレビュー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666666"/>
                </a:solidFill>
              </a:rPr>
              <a:t>図表一覧
PRISMA-ScR スコーピングレビュー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943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999999"/>
                </a:solidFill>
              </a:rPr>
              <a:t>[著者名]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237E"/>
                </a:solidFill>
              </a:rPr>
              <a:t>図1：労働ビザ医療検査におけるハンセン病スクリーニングの世界分布</a:t>
            </a:r>
          </a:p>
        </p:txBody>
      </p:sp>
      <p:pic>
        <p:nvPicPr>
          <p:cNvPr id="3" name="Picture 2" descr="fig1_world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36748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i="1">
                <a:solidFill>
                  <a:srgbClr val="666666"/>
                </a:solidFill>
              </a:rPr>
              <a:t>ハンセン病スクリーニング実施国（赤）、ハンセン病以外の疾病特異的スクリーニング（青）、疾病特異的要件なし（緑）を示す概略地域図。バブルサイズは国数に比例。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237E"/>
                </a:solidFill>
              </a:rPr>
              <a:t>図2：労働ビザ医療スクリーニング要件で指定される疾病</a:t>
            </a:r>
          </a:p>
        </p:txBody>
      </p:sp>
      <p:pic>
        <p:nvPicPr>
          <p:cNvPr id="3" name="Picture 2" descr="fig2_disease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86711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i="1">
                <a:solidFill>
                  <a:srgbClr val="666666"/>
                </a:solidFill>
              </a:rPr>
              <a:t>58カ国の疾病特異的スクリーニングにおける疾病頻度を示す横棒グラフ。ハンセン病（赤）は5番目に多くスクリーニングされる疾病（34.5%）。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237E"/>
                </a:solidFill>
              </a:rPr>
              <a:t>図3：地域分布と法的規定の類型</a:t>
            </a:r>
          </a:p>
        </p:txBody>
      </p:sp>
      <p:pic>
        <p:nvPicPr>
          <p:cNvPr id="3" name="Picture 2" descr="fig3_regional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36192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i="1">
                <a:solidFill>
                  <a:srgbClr val="666666"/>
                </a:solidFill>
              </a:rPr>
              <a:t>(A) ハンセン病スクリーニングを行う20カ国・地域の地域分布。(B) 移民法におけるハンセン病規定の性質（自動排除、証明書、等）。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A237E"/>
                </a:solidFill>
              </a:rPr>
              <a:t>図4：PRISMA-ScR フローダイアグラム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" y="548640"/>
            <a:ext cx="777240" cy="4572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565C0"/>
                </a:solidFill>
              </a:rPr>
              <a:t>同定
(IDENTIFICATION)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" y="1417320"/>
            <a:ext cx="777240" cy="4572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565C0"/>
                </a:solidFill>
              </a:rPr>
              <a:t>スクリーニング
(SCREENING)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" y="2468880"/>
            <a:ext cx="777240" cy="4572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565C0"/>
                </a:solidFill>
              </a:rPr>
              <a:t>適格性
(ELIGIBILITY)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" y="3840480"/>
            <a:ext cx="777240" cy="4572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565C0"/>
                </a:solidFill>
              </a:rPr>
              <a:t>採択
(INCLUDED)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502920"/>
            <a:ext cx="5943600" cy="548640"/>
          </a:xfrm>
          <a:prstGeom prst="roundRect">
            <a:avLst/>
          </a:prstGeom>
          <a:solidFill>
            <a:srgbClr val="BBDEFB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/>
              <a:t>レビュー対象として同定された国・地域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/>
              <a:t>(n = 197：国連加盟国193 + オブザーバー等4)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1371600"/>
            <a:ext cx="5943600" cy="594360"/>
          </a:xfrm>
          <a:prstGeom prst="roundRect">
            <a:avLst/>
          </a:prstGeom>
          <a:solidFill>
            <a:srgbClr val="BBDEFB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/>
              <a:t>各国につきスクリーニングした情報源：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/>
              <a:t>政府ウェブサイト、法令、公式書式、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/>
              <a:t>ILEPデータベース、IOM報告書、学術文献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2331720"/>
            <a:ext cx="4754880" cy="54864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/>
              <a:t>英語情報源で特定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/>
              <a:t>（n = 110：疾病特異的58 + 要件なし52）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2286000" cy="548640"/>
          </a:xfrm>
          <a:prstGeom prst="roundRect">
            <a:avLst/>
          </a:prstGeom>
          <a:solidFill>
            <a:srgbClr val="FFCDD2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/>
              <a:t>英語情報不十分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/>
              <a:t>（n = 87）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3246120"/>
            <a:ext cx="4754880" cy="54864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/>
              <a:t>補足的多言語調査：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/>
              <a:t>5カ国確認 + 82カ国未解決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3246120"/>
            <a:ext cx="2286000" cy="548640"/>
          </a:xfrm>
          <a:prstGeom prst="roundRect">
            <a:avLst/>
          </a:prstGeom>
          <a:solidFill>
            <a:srgbClr val="FFF9C4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/>
              <a:t>多言語調査後も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/>
              <a:t>最終的に未解決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/>
              <a:t>（n = 82）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4251960"/>
            <a:ext cx="3291840" cy="685800"/>
          </a:xfrm>
          <a:prstGeom prst="roundRect">
            <a:avLst/>
          </a:prstGeom>
          <a:solidFill>
            <a:srgbClr val="FFCDD2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/>
              <a:t>ハンセン病が労働ビザ医療要件に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/>
              <a:t>明示的に記載されている国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/>
              <a:t>（n = 20）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4251960"/>
            <a:ext cx="3291840" cy="6858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/>
              <a:t>疾病特異的スクリーニングあるが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/>
              <a:t>ハンセン病を含まない国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/>
              <a:t>（n = 38）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5303520"/>
            <a:ext cx="3291840" cy="1188720"/>
          </a:xfrm>
          <a:prstGeom prst="roundRect">
            <a:avLst/>
          </a:prstGeom>
          <a:solidFill>
            <a:srgbClr val="FCE4EC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/>
              <a:t>地域別内訳：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/>
              <a:t>GCC/中東：6カ国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/>
              <a:t>東南・東アジア：5カ国・地域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/>
              <a:t>南北アメリカ：3カ国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/>
              <a:t>アフリカ：2カ国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/>
              <a:t>欧州：2カ国 | 南アジア：2カ国・地域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5303520"/>
            <a:ext cx="3291840" cy="11887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/>
              <a:t>主要スクリーニング疾病（ハンセン病除く）：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/>
              <a:t>結核：38カ国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/>
              <a:t>HIV：35カ国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/>
              <a:t>梅毒：28カ国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/>
              <a:t>B型肝炎：22カ国</a:t>
            </a:r>
          </a:p>
        </p:txBody>
      </p:sp>
      <p:cxnSp>
        <p:nvCxnSpPr>
          <p:cNvPr id="117" name="Arrow 117"/>
          <p:cNvCxnSpPr/>
          <p:nvPr/>
        </p:nvCxnSpPr>
        <p:spPr>
          <a:xfrm>
            <a:off x="4160520" y="1051560"/>
            <a:ext cx="0" cy="320040"/>
          </a:xfrm>
          <a:prstGeom prst="straightConnector1">
            <a:avLst/>
          </a:prstGeom>
          <a:ln w="19050">
            <a:solidFill>
              <a:srgbClr val="1565C0"/>
            </a:solidFill>
            <a:tailEnd type="triangle" w="med" len="med"/>
          </a:ln>
        </p:spPr>
      </p:cxnSp>
      <p:cxnSp>
        <p:nvCxnSpPr>
          <p:cNvPr id="118" name="Arrow 118"/>
          <p:cNvCxnSpPr/>
          <p:nvPr/>
        </p:nvCxnSpPr>
        <p:spPr>
          <a:xfrm flipH="1">
            <a:off x="3566160" y="1965960"/>
            <a:ext cx="594360" cy="365760"/>
          </a:xfrm>
          <a:prstGeom prst="straightConnector1">
            <a:avLst/>
          </a:prstGeom>
          <a:ln w="19050">
            <a:solidFill>
              <a:srgbClr val="1565C0"/>
            </a:solidFill>
            <a:tailEnd type="triangle" w="med" len="med"/>
          </a:ln>
        </p:spPr>
      </p:cxnSp>
      <p:cxnSp>
        <p:nvCxnSpPr>
          <p:cNvPr id="119" name="Arrow 119"/>
          <p:cNvCxnSpPr/>
          <p:nvPr/>
        </p:nvCxnSpPr>
        <p:spPr>
          <a:xfrm>
            <a:off x="5943600" y="2606040"/>
            <a:ext cx="548640" cy="0"/>
          </a:xfrm>
          <a:prstGeom prst="straightConnector1">
            <a:avLst/>
          </a:prstGeom>
          <a:ln w="19050">
            <a:solidFill>
              <a:srgbClr val="1565C0"/>
            </a:solidFill>
            <a:tailEnd type="triangle" w="med" len="med"/>
          </a:ln>
        </p:spPr>
      </p:cxnSp>
      <p:cxnSp>
        <p:nvCxnSpPr>
          <p:cNvPr id="120" name="Arrow 120"/>
          <p:cNvCxnSpPr/>
          <p:nvPr/>
        </p:nvCxnSpPr>
        <p:spPr>
          <a:xfrm>
            <a:off x="3566160" y="2880360"/>
            <a:ext cx="0" cy="365760"/>
          </a:xfrm>
          <a:prstGeom prst="straightConnector1">
            <a:avLst/>
          </a:prstGeom>
          <a:ln w="19050">
            <a:solidFill>
              <a:srgbClr val="1565C0"/>
            </a:solidFill>
            <a:tailEnd type="triangle" w="med" len="med"/>
          </a:ln>
        </p:spPr>
      </p:cxnSp>
      <p:cxnSp>
        <p:nvCxnSpPr>
          <p:cNvPr id="121" name="Arrow 121"/>
          <p:cNvCxnSpPr/>
          <p:nvPr/>
        </p:nvCxnSpPr>
        <p:spPr>
          <a:xfrm>
            <a:off x="5943600" y="3520440"/>
            <a:ext cx="548640" cy="0"/>
          </a:xfrm>
          <a:prstGeom prst="straightConnector1">
            <a:avLst/>
          </a:prstGeom>
          <a:ln w="19050">
            <a:solidFill>
              <a:srgbClr val="1565C0"/>
            </a:solidFill>
            <a:tailEnd type="triangle" w="med" len="med"/>
          </a:ln>
        </p:spPr>
      </p:cxnSp>
      <p:cxnSp>
        <p:nvCxnSpPr>
          <p:cNvPr id="122" name="Arrow 122"/>
          <p:cNvCxnSpPr/>
          <p:nvPr/>
        </p:nvCxnSpPr>
        <p:spPr>
          <a:xfrm flipH="1">
            <a:off x="2651760" y="3794760"/>
            <a:ext cx="914400" cy="457200"/>
          </a:xfrm>
          <a:prstGeom prst="straightConnector1">
            <a:avLst/>
          </a:prstGeom>
          <a:ln w="19050">
            <a:solidFill>
              <a:srgbClr val="1565C0"/>
            </a:solidFill>
            <a:tailEnd type="triangle" w="med" len="med"/>
          </a:ln>
        </p:spPr>
      </p:cxnSp>
      <p:cxnSp>
        <p:nvCxnSpPr>
          <p:cNvPr id="123" name="Arrow 123"/>
          <p:cNvCxnSpPr/>
          <p:nvPr/>
        </p:nvCxnSpPr>
        <p:spPr>
          <a:xfrm>
            <a:off x="3566160" y="3794760"/>
            <a:ext cx="2926080" cy="457200"/>
          </a:xfrm>
          <a:prstGeom prst="straightConnector1">
            <a:avLst/>
          </a:prstGeom>
          <a:ln w="19050">
            <a:solidFill>
              <a:srgbClr val="1565C0"/>
            </a:solidFill>
            <a:tailEnd type="triangle" w="med" len="med"/>
          </a:ln>
        </p:spPr>
      </p:cxnSp>
      <p:cxnSp>
        <p:nvCxnSpPr>
          <p:cNvPr id="124" name="Arrow 124"/>
          <p:cNvCxnSpPr/>
          <p:nvPr/>
        </p:nvCxnSpPr>
        <p:spPr>
          <a:xfrm>
            <a:off x="2651760" y="4937760"/>
            <a:ext cx="0" cy="365760"/>
          </a:xfrm>
          <a:prstGeom prst="straightConnector1">
            <a:avLst/>
          </a:prstGeom>
          <a:ln w="19050">
            <a:solidFill>
              <a:srgbClr val="1565C0"/>
            </a:solidFill>
            <a:tailEnd type="triangle" w="med" len="med"/>
          </a:ln>
        </p:spPr>
      </p:cxnSp>
      <p:cxnSp>
        <p:nvCxnSpPr>
          <p:cNvPr id="125" name="Arrow 125"/>
          <p:cNvCxnSpPr/>
          <p:nvPr/>
        </p:nvCxnSpPr>
        <p:spPr>
          <a:xfrm>
            <a:off x="6492240" y="4937760"/>
            <a:ext cx="0" cy="365760"/>
          </a:xfrm>
          <a:prstGeom prst="straightConnector1">
            <a:avLst/>
          </a:prstGeom>
          <a:ln w="19050">
            <a:solidFill>
              <a:srgbClr val="1565C0"/>
            </a:solidFill>
            <a:tailEnd type="triangl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237E"/>
                </a:solidFill>
              </a:rPr>
              <a:t>図5：疾病の感染性とスクリーニング頻度の関係</a:t>
            </a:r>
          </a:p>
        </p:txBody>
      </p:sp>
      <p:pic>
        <p:nvPicPr>
          <p:cNvPr id="3" name="Picture 2" descr="fig5_transmissi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936" y="914400"/>
            <a:ext cx="7264127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i="1">
                <a:solidFill>
                  <a:srgbClr val="666666"/>
                </a:solidFill>
              </a:rPr>
              <a:t>ハンセン病（赤）は極めて低い感染性（R₀）にもかかわらず不釣り合いに高いスクリーニング頻度を示す。バブルサイズは各疾病をスクリーニングする国数に比例。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237E"/>
                </a:solidFill>
              </a:rPr>
              <a:t>図6：データ到達フロー図</a:t>
            </a:r>
          </a:p>
        </p:txBody>
      </p:sp>
      <p:pic>
        <p:nvPicPr>
          <p:cNvPr id="3" name="Picture 2" descr="fig6_sankey_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7137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i="1">
                <a:solidFill>
                  <a:srgbClr val="666666"/>
                </a:solidFill>
              </a:rPr>
              <a:t>2段階検索戦略：197カ国 → 英語情報源で110カ国（疾病特異的58 + 要件なし52）、多言語調査で5カ国、到達不可82カ国。スクリーニング確認63カ国のうち20カ国がハンセン病を明記。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237E"/>
                </a:solidFill>
              </a:rPr>
              <a:t>図7：データ到達可能性の地理的分布</a:t>
            </a:r>
          </a:p>
        </p:txBody>
      </p:sp>
      <p:pic>
        <p:nvPicPr>
          <p:cNvPr id="3" name="Picture 2" descr="fig7_accessibility_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36834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i="1">
                <a:solidFill>
                  <a:srgbClr val="666666"/>
                </a:solidFill>
              </a:rPr>
              <a:t>緑：英語情報源で到達（110カ国、55.8%）、橙：多言語調査で到達（5カ国、2.5%）、赤：到達不可（82カ国、41.6%）。灰色：調査対象外。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37E"/>
                </a:solidFill>
              </a:rPr>
              <a:t>表1：労働ビザ医療要件にハンセン病を明記している国（n=20）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640080"/>
          <a:ext cx="7680960" cy="594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371600"/>
                <a:gridCol w="2560320"/>
                <a:gridCol w="1828800"/>
                <a:gridCol w="731520"/>
              </a:tblGrid>
              <a:tr h="283028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地域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国名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法的根拠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規定の種類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年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283028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GCC/中東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サウジアラビア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GAMCA/WAFID規則 第6版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自動排除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2021</a:t>
                      </a:r>
                    </a:p>
                  </a:txBody>
                  <a:tcPr/>
                </a:tc>
              </a:tr>
              <a:tr h="283028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UAE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GAMCA/WAFID規則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自動排除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2021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3028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/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カタール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GAMCA/WAFID規則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自動排除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2021</a:t>
                      </a:r>
                    </a:p>
                  </a:txBody>
                  <a:tcPr/>
                </a:tc>
              </a:tr>
              <a:tr h="283028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クウェート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GAMCA/WAFID規則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自動排除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2021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3028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/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オマーン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GAMCA/WAFID規則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自動排除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2021</a:t>
                      </a:r>
                    </a:p>
                  </a:txBody>
                  <a:tcPr/>
                </a:tc>
              </a:tr>
              <a:tr h="283028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バーレーン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GAMCA/WAFID規則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自動排除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2021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3028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東・東南アジア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中国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外国人体格検査表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非罹患証明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—</a:t>
                      </a:r>
                    </a:p>
                  </a:txBody>
                  <a:tcPr/>
                </a:tc>
              </a:tr>
              <a:tr h="283028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タイ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緊急勅令B.E.2560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禁止疾病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2017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3028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/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台湾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労働許可規則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非罹患証明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—</a:t>
                      </a:r>
                    </a:p>
                  </a:txBody>
                  <a:tcPr/>
                </a:tc>
              </a:tr>
              <a:tr h="283028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マレーシア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FOMEMA要件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医学的不適格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3028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/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フィリピン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OWWA要件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非罹患証明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—</a:t>
                      </a:r>
                    </a:p>
                  </a:txBody>
                  <a:tcPr/>
                </a:tc>
              </a:tr>
              <a:tr h="283028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アフリカ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南アフリカ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移民法2002; BI-811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非罹患証明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2002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3028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/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ナミビア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移民管理法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医学的禁止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1993</a:t>
                      </a:r>
                    </a:p>
                  </a:txBody>
                  <a:tcPr/>
                </a:tc>
              </a:tr>
              <a:tr h="283028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欧州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ロシア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連邦法No.115-FZ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国外退去事由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2002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3028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/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マルタ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移民法Cap.217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医学的入国不可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—</a:t>
                      </a:r>
                    </a:p>
                  </a:txBody>
                  <a:tcPr/>
                </a:tc>
              </a:tr>
              <a:tr h="283028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南北アメリカ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米国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INA §212(a)(1)(A)(i)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クラスA状態*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1952†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3028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/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バルバドス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移民法Cap.190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医学的禁止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—</a:t>
                      </a:r>
                    </a:p>
                  </a:txBody>
                  <a:tcPr/>
                </a:tc>
              </a:tr>
              <a:tr h="283028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米領バージン諸島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米国連邦法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クラスA状態*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3028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南アジア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インド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州レベル雇用法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雇用制限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各種</a:t>
                      </a:r>
                    </a:p>
                  </a:txBody>
                  <a:tcPr/>
                </a:tc>
              </a:tr>
              <a:tr h="283040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香港特別行政区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移民条例Cap.115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医学的入国不可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37E"/>
                </a:solidFill>
              </a:rPr>
              <a:t>表2：疾病特異的スクリーニングを行うがハンセン病を含まない国（n=15例）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640080"/>
          <a:ext cx="7680960" cy="594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2743200"/>
                <a:gridCol w="1280160"/>
              </a:tblGrid>
              <a:tr h="371475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国名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スクリーニング対象疾病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特記事項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ハンセン病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371475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カナダ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結核、梅毒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移民医療検査（IME）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含まれない</a:t>
                      </a:r>
                    </a:p>
                  </a:txBody>
                  <a:tcPr/>
                </a:tc>
              </a:tr>
              <a:tr h="371475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オーストラリア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結核、HIV、B/C型肝炎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パネル医師制度（Bupa）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含まれない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71475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英国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結核（6ヶ月超ビザ）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IOMパネル医師スクリーニング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含まれない</a:t>
                      </a:r>
                    </a:p>
                  </a:txBody>
                  <a:tcPr/>
                </a:tc>
              </a:tr>
              <a:tr h="371475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ニュージーランド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結核、HIV、B型肝炎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Immigration NZパネル医師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含まれない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71475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日本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結核のみ（特定国籍）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JPETS入国前結核スクリーニング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含まれない</a:t>
                      </a:r>
                    </a:p>
                  </a:txBody>
                  <a:tcPr/>
                </a:tc>
              </a:tr>
              <a:tr h="371475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韓国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結核、HIV、薬物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E-9ビザ医療検査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含まれない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71475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シンガポール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結核、HIV、梅毒、B型肝炎、マラリア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外国人労働者医療検査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含まれない</a:t>
                      </a:r>
                    </a:p>
                  </a:txBody>
                  <a:tcPr/>
                </a:tc>
              </a:tr>
              <a:tr h="371475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イスラエル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結核、HIV、B/C型肝炎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入国医療要件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含まれない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71475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ケニア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結核、HIV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労働許可医療証明書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含まれない</a:t>
                      </a:r>
                    </a:p>
                  </a:txBody>
                  <a:tcPr/>
                </a:tc>
              </a:tr>
              <a:tr h="371475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ナイジェリア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結核、HIV、B型肝炎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駐在員枠医療検査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含まれない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71475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ガーナ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結核、HIV、黄熱病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移民医療証明書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含まれない</a:t>
                      </a:r>
                    </a:p>
                  </a:txBody>
                  <a:tcPr/>
                </a:tc>
              </a:tr>
              <a:tr h="371475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ブラジル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黄熱病（予防接種）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労働ビザ医療検査なし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含まれない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71475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メキシコ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指定なし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標準医療検査なし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含まれない</a:t>
                      </a:r>
                    </a:p>
                  </a:txBody>
                  <a:tcPr/>
                </a:tc>
              </a:tr>
              <a:tr h="371475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アルゼンチン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指定なし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疾病特異的検査なし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含まれない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71475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チリ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結核、HIV（一部ビザ）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一時居住者ビザ医療検査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含まれない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